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0" r:id="rId13"/>
  </p:sldIdLst>
  <p:sldSz cx="14630400" cy="8229600"/>
  <p:notesSz cx="8229600" cy="14630400"/>
  <p:embeddedFontLst>
    <p:embeddedFont>
      <p:font typeface="Prata" panose="020B0604020202020204" charset="0"/>
      <p:regular r:id="rId15"/>
    </p:embeddedFont>
    <p:embeddedFont>
      <p:font typeface="Raleway" pitchFamily="2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CBBF"/>
    <a:srgbClr val="F2E7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269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sv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sv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11" Type="http://schemas.openxmlformats.org/officeDocument/2006/relationships/image" Target="../media/image34.svg"/><Relationship Id="rId5" Type="http://schemas.openxmlformats.org/officeDocument/2006/relationships/image" Target="../media/image28.sv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720512" y="2280223"/>
            <a:ext cx="10985834" cy="1037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Mini Bank Management System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793790" y="531387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CE37B9-DF67-9629-13F4-795B790F7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2292" y="7705652"/>
            <a:ext cx="1848108" cy="5239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D6C2EE1-9AE5-B333-44A2-1F12EEDE45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1741" y="202913"/>
            <a:ext cx="3236088" cy="12991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51BE768-8FA5-5A48-AB07-1C008F389C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571" y="170639"/>
            <a:ext cx="1446904" cy="144690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43F68ED-0F7B-C23B-D168-D5C34A2922E6}"/>
              </a:ext>
            </a:extLst>
          </p:cNvPr>
          <p:cNvSpPr txBox="1"/>
          <p:nvPr/>
        </p:nvSpPr>
        <p:spPr>
          <a:xfrm>
            <a:off x="1771597" y="5828380"/>
            <a:ext cx="26869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FCBBF"/>
                </a:solidFill>
                <a:latin typeface="Raleway" pitchFamily="2" charset="0"/>
              </a:rPr>
              <a:t>Presented by:</a:t>
            </a:r>
          </a:p>
          <a:p>
            <a:r>
              <a:rPr lang="en-US" sz="2400" dirty="0">
                <a:solidFill>
                  <a:srgbClr val="CFCBBF"/>
                </a:solidFill>
                <a:latin typeface="Raleway" pitchFamily="2" charset="0"/>
              </a:rPr>
              <a:t>Jonayet Bogdady</a:t>
            </a:r>
            <a:br>
              <a:rPr lang="en-US" sz="2400" dirty="0">
                <a:solidFill>
                  <a:srgbClr val="CFCBBF"/>
                </a:solidFill>
                <a:latin typeface="Raleway" pitchFamily="2" charset="0"/>
              </a:rPr>
            </a:br>
            <a:r>
              <a:rPr lang="en-US" sz="2400" dirty="0">
                <a:solidFill>
                  <a:srgbClr val="CFCBBF"/>
                </a:solidFill>
                <a:latin typeface="Raleway" pitchFamily="2" charset="0"/>
              </a:rPr>
              <a:t>ID: 251002011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EBD017-0D5B-7C1D-6788-23C082E87E2A}"/>
              </a:ext>
            </a:extLst>
          </p:cNvPr>
          <p:cNvSpPr txBox="1"/>
          <p:nvPr/>
        </p:nvSpPr>
        <p:spPr>
          <a:xfrm>
            <a:off x="9349534" y="5828380"/>
            <a:ext cx="476444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FCBBF"/>
                </a:solidFill>
                <a:latin typeface="Raleway" pitchFamily="2" charset="0"/>
              </a:rPr>
              <a:t>Presented to:</a:t>
            </a:r>
          </a:p>
          <a:p>
            <a:r>
              <a:rPr lang="en-US" sz="2400" dirty="0">
                <a:solidFill>
                  <a:srgbClr val="CFCBBF"/>
                </a:solidFill>
                <a:latin typeface="Raleway" pitchFamily="2" charset="0"/>
              </a:rPr>
              <a:t>Kazi Hasnayeen Emad </a:t>
            </a:r>
          </a:p>
          <a:p>
            <a:r>
              <a:rPr lang="en-US" sz="2400" dirty="0">
                <a:solidFill>
                  <a:srgbClr val="CFCBBF"/>
                </a:solidFill>
                <a:latin typeface="Raleway" pitchFamily="2" charset="0"/>
              </a:rPr>
              <a:t>Lecturer, Department of SWE</a:t>
            </a:r>
          </a:p>
          <a:p>
            <a:r>
              <a:rPr lang="en-US" sz="2400" dirty="0">
                <a:solidFill>
                  <a:srgbClr val="CFCBBF"/>
                </a:solidFill>
                <a:latin typeface="Raleway" pitchFamily="2" charset="0"/>
              </a:rPr>
              <a:t>Green University of Bangladesh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D006B4-DF8B-06F0-5224-74C22072B68D}"/>
              </a:ext>
            </a:extLst>
          </p:cNvPr>
          <p:cNvSpPr txBox="1"/>
          <p:nvPr/>
        </p:nvSpPr>
        <p:spPr>
          <a:xfrm>
            <a:off x="4885689" y="3317971"/>
            <a:ext cx="537518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FCBBF"/>
                </a:solidFill>
                <a:latin typeface="Raleway" pitchFamily="2" charset="0"/>
              </a:rPr>
              <a:t>Course Title: Object Oriented Programming </a:t>
            </a:r>
          </a:p>
          <a:p>
            <a:endParaRPr lang="en-US" sz="2000" dirty="0">
              <a:solidFill>
                <a:srgbClr val="CFCBBF"/>
              </a:solidFill>
              <a:latin typeface="Raleway" pitchFamily="2" charset="0"/>
            </a:endParaRPr>
          </a:p>
          <a:p>
            <a:r>
              <a:rPr lang="en-US" sz="2000" dirty="0">
                <a:solidFill>
                  <a:srgbClr val="CFCBBF"/>
                </a:solidFill>
                <a:latin typeface="Raleway" pitchFamily="2" charset="0"/>
              </a:rPr>
              <a:t>Course Code: CSE 202	 Section: 251_D1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22038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Introduction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184327"/>
            <a:ext cx="4885015" cy="2768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9828" y="3377565"/>
            <a:ext cx="760428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Mini Bank Management System is a lightweight desktop banking application built in Java that automates core branch operations. It replaces manual ledger work with digital account management, secure transactions, and a simple GUI for staff and customers.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39828" y="5033248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This project demonstrates how OOP design improves code structure, maintainability, and real-world banking workflows.</a:t>
            </a:r>
            <a:endParaRPr lang="en-US" sz="17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4BB307-2E31-2C14-D2BC-77E924450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82292" y="7705652"/>
            <a:ext cx="1848108" cy="5239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A08ECD-BA79-4F48-4364-E502B19CFB14}"/>
              </a:ext>
            </a:extLst>
          </p:cNvPr>
          <p:cNvSpPr txBox="1"/>
          <p:nvPr/>
        </p:nvSpPr>
        <p:spPr>
          <a:xfrm>
            <a:off x="5103360" y="7525837"/>
            <a:ext cx="3727302" cy="7001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5550"/>
              </a:lnSpc>
            </a:pPr>
            <a:r>
              <a:rPr lang="en-US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Mini Bank Management System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AB772B-C521-2CDE-FFD2-DD7838428877}"/>
              </a:ext>
            </a:extLst>
          </p:cNvPr>
          <p:cNvSpPr txBox="1"/>
          <p:nvPr/>
        </p:nvSpPr>
        <p:spPr>
          <a:xfrm>
            <a:off x="13358915" y="7525837"/>
            <a:ext cx="1176925" cy="6848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5550"/>
              </a:lnSpc>
            </a:pPr>
            <a:r>
              <a:rPr lang="en-US" sz="1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Page No. 01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78530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9846" y="553879"/>
            <a:ext cx="3827621" cy="478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Motivation</a:t>
            </a:r>
            <a:endParaRPr lang="en-US" sz="3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9846" y="1274445"/>
            <a:ext cx="478393" cy="47839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9846" y="1954649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Slow Service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669846" y="2350413"/>
            <a:ext cx="7804309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Manual processes cause long queues and delays.</a:t>
            </a:r>
            <a:endParaRPr lang="en-U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9846" y="2955488"/>
            <a:ext cx="478393" cy="47839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69846" y="3635693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Paperwork Overload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669846" y="4031456"/>
            <a:ext cx="7804309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Physical ledgers are error-prone and hard to search.</a:t>
            </a: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9846" y="4636532"/>
            <a:ext cx="478393" cy="47839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9846" y="5316736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Security Risks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669846" y="5712500"/>
            <a:ext cx="7804309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Inconsistent record keeping increases fraud exposure.</a:t>
            </a:r>
            <a:endParaRPr lang="en-US" sz="15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9846" y="6317575"/>
            <a:ext cx="478393" cy="47839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69846" y="6997779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Human Errors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669846" y="7393543"/>
            <a:ext cx="7804309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Manual entries lead to mistakes in balances and records.</a:t>
            </a:r>
            <a:endParaRPr lang="en-US" sz="15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D015629-A06A-76EC-D198-14AEC8E2E00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82292" y="7853082"/>
            <a:ext cx="1848108" cy="37651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A48DE1A-AAEC-C352-79A8-4CBDAF932367}"/>
              </a:ext>
            </a:extLst>
          </p:cNvPr>
          <p:cNvSpPr txBox="1"/>
          <p:nvPr/>
        </p:nvSpPr>
        <p:spPr>
          <a:xfrm>
            <a:off x="5103360" y="7525837"/>
            <a:ext cx="3727302" cy="7001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5550"/>
              </a:lnSpc>
            </a:pPr>
            <a:r>
              <a:rPr lang="en-US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Mini Bank Management System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354D46-82FE-D1EB-965D-1010D2AE3D8E}"/>
              </a:ext>
            </a:extLst>
          </p:cNvPr>
          <p:cNvSpPr txBox="1"/>
          <p:nvPr/>
        </p:nvSpPr>
        <p:spPr>
          <a:xfrm>
            <a:off x="13358915" y="7525837"/>
            <a:ext cx="1225015" cy="6848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5550"/>
              </a:lnSpc>
            </a:pPr>
            <a:r>
              <a:rPr lang="en-US" sz="1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Page No. 02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67708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Problem Statement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3321010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Bank branches need a secure, user-friendly system to manage customer accounts and transactions. The solution must: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250888"/>
            <a:ext cx="6924437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Support account creation and secure login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Handle deposits, withdrawals, and balance checks reliably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Maintain transaction history and customer records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 maintainable using OOP principles in Java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9249" y="2829997"/>
            <a:ext cx="5564862" cy="2546866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59070" y="3465881"/>
            <a:ext cx="357798" cy="35779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540296" y="4671432"/>
            <a:ext cx="1044766" cy="402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Secure Records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549199" y="3466552"/>
            <a:ext cx="357797" cy="35779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223605" y="4671432"/>
            <a:ext cx="1044766" cy="402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Automated Ops</a:t>
            </a:r>
            <a:endParaRPr lang="en-US" sz="12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39664" y="3466552"/>
            <a:ext cx="357797" cy="35779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14069" y="4671432"/>
            <a:ext cx="1044766" cy="402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Digitize Accounts</a:t>
            </a:r>
            <a:endParaRPr lang="en-US" sz="12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22973" y="3466552"/>
            <a:ext cx="357797" cy="357797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575910" y="4671432"/>
            <a:ext cx="1044766" cy="402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Manual Queues</a:t>
            </a:r>
            <a:endParaRPr lang="en-US" sz="1250" dirty="0"/>
          </a:p>
        </p:txBody>
      </p:sp>
      <p:sp>
        <p:nvSpPr>
          <p:cNvPr id="14" name="Text 7"/>
          <p:cNvSpPr/>
          <p:nvPr/>
        </p:nvSpPr>
        <p:spPr>
          <a:xfrm>
            <a:off x="8279249" y="5632013"/>
            <a:ext cx="55648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This workflow shows how automation reduces errors and improves speed.</a:t>
            </a:r>
            <a:endParaRPr lang="en-US" sz="17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E4ABFD0-A20B-5723-AA77-84AF0D89D3A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82292" y="7705652"/>
            <a:ext cx="1848108" cy="52394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D37A005-19AF-7EA6-EF2E-79AD6564DFF2}"/>
              </a:ext>
            </a:extLst>
          </p:cNvPr>
          <p:cNvSpPr txBox="1"/>
          <p:nvPr/>
        </p:nvSpPr>
        <p:spPr>
          <a:xfrm>
            <a:off x="5103360" y="7525837"/>
            <a:ext cx="3727302" cy="7001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5550"/>
              </a:lnSpc>
            </a:pPr>
            <a:r>
              <a:rPr lang="en-US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Mini Bank Management System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C9058A-06D6-28A5-06DB-472EDB7EED1A}"/>
              </a:ext>
            </a:extLst>
          </p:cNvPr>
          <p:cNvSpPr txBox="1"/>
          <p:nvPr/>
        </p:nvSpPr>
        <p:spPr>
          <a:xfrm>
            <a:off x="13358915" y="7525837"/>
            <a:ext cx="1225015" cy="6848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5550"/>
              </a:lnSpc>
            </a:pPr>
            <a:r>
              <a:rPr lang="en-US" sz="1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Page No. 03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21180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Objectives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841784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20604" y="30685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Create Accounts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559016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Collect customer details and initialize savings/current accounts.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841784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43776" y="30685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Secure Login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3559016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Implement credential checks and simple session control.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841784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66948" y="30685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Deposit &amp; Withdraw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3559016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Safe balance updates with input validation and receipts.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738449"/>
            <a:ext cx="6407944" cy="1669852"/>
          </a:xfrm>
          <a:prstGeom prst="roundRect">
            <a:avLst>
              <a:gd name="adj" fmla="val 2038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0604" y="49652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Transaction History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0604" y="5455682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Persist and display transaction logs for auditing.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738449"/>
            <a:ext cx="6407944" cy="1669852"/>
          </a:xfrm>
          <a:prstGeom prst="roundRect">
            <a:avLst>
              <a:gd name="adj" fmla="val 2038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55362" y="49652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OOP Design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55362" y="5455682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 classes, encapsulation, inheritance, polymorphism, and abstraction for modular code.</a:t>
            </a:r>
            <a:endParaRPr lang="en-US" sz="17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C7A9FC4-3B8E-D3ED-9ED2-6F63E5D95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2292" y="7705652"/>
            <a:ext cx="1848108" cy="52394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0ACDA58-E4A3-A0B4-4D33-59BD41F42764}"/>
              </a:ext>
            </a:extLst>
          </p:cNvPr>
          <p:cNvSpPr txBox="1"/>
          <p:nvPr/>
        </p:nvSpPr>
        <p:spPr>
          <a:xfrm>
            <a:off x="5103360" y="7525837"/>
            <a:ext cx="3727302" cy="7001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5550"/>
              </a:lnSpc>
            </a:pPr>
            <a:r>
              <a:rPr lang="en-US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Mini Bank Management System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15FD59-E22A-EE76-BC67-3AAD70FF73A5}"/>
              </a:ext>
            </a:extLst>
          </p:cNvPr>
          <p:cNvSpPr txBox="1"/>
          <p:nvPr/>
        </p:nvSpPr>
        <p:spPr>
          <a:xfrm>
            <a:off x="13358915" y="7525837"/>
            <a:ext cx="1220206" cy="6848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5550"/>
              </a:lnSpc>
            </a:pPr>
            <a:r>
              <a:rPr lang="en-US" sz="1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Page No. 04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93388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Technologies Used</a:t>
            </a:r>
            <a:endParaRPr lang="en-US" sz="355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6203" y="3184327"/>
            <a:ext cx="4880189" cy="2768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9828" y="3321070"/>
            <a:ext cx="7604284" cy="249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Java SE — core programming language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Swing / JFrame — desktop GUI components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NetBeans or VS Code IDEA — development environment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File handling &amp; ArrayList — simple persistence and in-memory storage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OOP principles — for clean, testable design</a:t>
            </a:r>
            <a:endParaRPr lang="en-US" sz="17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B0518C-F32E-41BD-BCFB-5CEBCF88CB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82292" y="7705652"/>
            <a:ext cx="1848108" cy="5239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F197B8-0417-FD8A-ABFA-16A3F31372D9}"/>
              </a:ext>
            </a:extLst>
          </p:cNvPr>
          <p:cNvSpPr txBox="1"/>
          <p:nvPr/>
        </p:nvSpPr>
        <p:spPr>
          <a:xfrm>
            <a:off x="5103360" y="7525837"/>
            <a:ext cx="3727302" cy="7001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5550"/>
              </a:lnSpc>
            </a:pPr>
            <a:r>
              <a:rPr lang="en-US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Mini Bank Management System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3546AA-A50D-7290-C79B-304306D2A78C}"/>
              </a:ext>
            </a:extLst>
          </p:cNvPr>
          <p:cNvSpPr txBox="1"/>
          <p:nvPr/>
        </p:nvSpPr>
        <p:spPr>
          <a:xfrm>
            <a:off x="13358915" y="7525837"/>
            <a:ext cx="1223412" cy="6848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5550"/>
              </a:lnSpc>
            </a:pPr>
            <a:r>
              <a:rPr lang="en-US" sz="1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Page No. 05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6014" y="490895"/>
            <a:ext cx="380785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OOP Concepts Applied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014" y="2241947"/>
            <a:ext cx="6269236" cy="3533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94341" y="2548080"/>
            <a:ext cx="1161134" cy="173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Account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594341" y="2771196"/>
            <a:ext cx="1161134" cy="243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95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class for all accounts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411811" y="2548080"/>
            <a:ext cx="1154957" cy="173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SavingsAccount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411811" y="2771196"/>
            <a:ext cx="1154957" cy="243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Derived class with interest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637671" y="4990784"/>
            <a:ext cx="1117900" cy="173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CurrentAccount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637671" y="5213901"/>
            <a:ext cx="1117900" cy="243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95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Derived class for checking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374754" y="4990784"/>
            <a:ext cx="1192015" cy="173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Customer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374754" y="5213901"/>
            <a:ext cx="1192015" cy="243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Owner of account objects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446014" y="5918478"/>
            <a:ext cx="6269236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diagram maps class relationships: inheritance for account types, composition for transactions stored within account objects, and a separate AuthService for login.</a:t>
            </a:r>
            <a:endParaRPr lang="en-US" sz="13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37922" y="1250990"/>
            <a:ext cx="425291" cy="4252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137922" y="1835706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Class &amp; Object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8137922" y="2228969"/>
            <a:ext cx="505384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Concrete classes model accounts, customers, and transactions.</a:t>
            </a:r>
            <a:endParaRPr lang="en-US" sz="13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37922" y="2722245"/>
            <a:ext cx="425291" cy="4252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7922" y="3306961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Encapsulation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137922" y="3700224"/>
            <a:ext cx="505384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Private fields with getters/setters protect balance and credentials.</a:t>
            </a:r>
            <a:endParaRPr lang="en-US" sz="13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37922" y="4431625"/>
            <a:ext cx="425291" cy="42529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37922" y="5016341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Inheritance</a:t>
            </a:r>
            <a:endParaRPr lang="en-US" sz="1650" dirty="0"/>
          </a:p>
        </p:txBody>
      </p:sp>
      <p:sp>
        <p:nvSpPr>
          <p:cNvPr id="21" name="Text 15"/>
          <p:cNvSpPr/>
          <p:nvPr/>
        </p:nvSpPr>
        <p:spPr>
          <a:xfrm>
            <a:off x="8137922" y="5409605"/>
            <a:ext cx="505384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Account class extended by SavingsAccount and CurrentAccount.</a:t>
            </a:r>
            <a:endParaRPr lang="en-US" sz="13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37922" y="6141006"/>
            <a:ext cx="425291" cy="42529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137922" y="6725722"/>
            <a:ext cx="297037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Polymorphism &amp; Abstraction</a:t>
            </a:r>
            <a:endParaRPr lang="en-US" sz="1650" dirty="0"/>
          </a:p>
        </p:txBody>
      </p:sp>
      <p:sp>
        <p:nvSpPr>
          <p:cNvPr id="24" name="Text 17"/>
          <p:cNvSpPr/>
          <p:nvPr/>
        </p:nvSpPr>
        <p:spPr>
          <a:xfrm>
            <a:off x="8137922" y="7118985"/>
            <a:ext cx="505384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 abstract methods for account-specific behavior and interchangeable interfaces.</a:t>
            </a:r>
            <a:endParaRPr lang="en-US" sz="13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13B71F0-1C88-AFBE-46CF-15B059E1957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82292" y="7705652"/>
            <a:ext cx="1848108" cy="52394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CCE8DF7-1F89-BCC5-8B98-67BE45ECA3E3}"/>
              </a:ext>
            </a:extLst>
          </p:cNvPr>
          <p:cNvSpPr txBox="1"/>
          <p:nvPr/>
        </p:nvSpPr>
        <p:spPr>
          <a:xfrm>
            <a:off x="5103360" y="7525837"/>
            <a:ext cx="3727302" cy="7001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5550"/>
              </a:lnSpc>
            </a:pPr>
            <a:r>
              <a:rPr lang="en-US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Mini Bank Management System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7A7D2C-9FEE-6399-847B-40107E1E0E90}"/>
              </a:ext>
            </a:extLst>
          </p:cNvPr>
          <p:cNvSpPr txBox="1"/>
          <p:nvPr/>
        </p:nvSpPr>
        <p:spPr>
          <a:xfrm>
            <a:off x="13358915" y="7525837"/>
            <a:ext cx="1231427" cy="6848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5550"/>
              </a:lnSpc>
            </a:pPr>
            <a:r>
              <a:rPr lang="en-US" sz="1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Page No. 06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74808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System Features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295412"/>
            <a:ext cx="883920" cy="883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1197" y="3295412"/>
            <a:ext cx="1880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Create Account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961197" y="4140160"/>
            <a:ext cx="188059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Register customers with unique account IDs and secure passwords.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3295412"/>
            <a:ext cx="883920" cy="883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92685" y="3295412"/>
            <a:ext cx="18807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Secure Login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92685" y="3785830"/>
            <a:ext cx="188071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Basic authentication flow with input validation.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3295412"/>
            <a:ext cx="883920" cy="8839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24292" y="3295412"/>
            <a:ext cx="188071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Deposit / Withdraw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624292" y="4140160"/>
            <a:ext cx="188071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Balance updates with transaction records and simple receipts.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3295412"/>
            <a:ext cx="883920" cy="8839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955899" y="3295412"/>
            <a:ext cx="188071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Transaction History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1955899" y="4140160"/>
            <a:ext cx="188071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View chronological logs for auditing and dispute resolution.</a:t>
            </a:r>
            <a:endParaRPr lang="en-US" sz="17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71E2C63-147C-E00B-BE00-AD8B62AACC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82292" y="7705652"/>
            <a:ext cx="1848108" cy="52394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85B77EB-14D8-27FB-F174-3461FC275F18}"/>
              </a:ext>
            </a:extLst>
          </p:cNvPr>
          <p:cNvSpPr txBox="1"/>
          <p:nvPr/>
        </p:nvSpPr>
        <p:spPr>
          <a:xfrm>
            <a:off x="5103360" y="7525837"/>
            <a:ext cx="3727302" cy="7001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5550"/>
              </a:lnSpc>
            </a:pPr>
            <a:r>
              <a:rPr lang="en-US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Mini Bank Management System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C20454-A517-7936-AEBD-D1B7CC6DE514}"/>
              </a:ext>
            </a:extLst>
          </p:cNvPr>
          <p:cNvSpPr txBox="1"/>
          <p:nvPr/>
        </p:nvSpPr>
        <p:spPr>
          <a:xfrm>
            <a:off x="13358915" y="7525837"/>
            <a:ext cx="1204176" cy="6848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5550"/>
              </a:lnSpc>
            </a:pPr>
            <a:r>
              <a:rPr lang="en-US" sz="1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Page No. 07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89008"/>
            <a:ext cx="696825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GUI Screenshots</a:t>
            </a:r>
            <a:endParaRPr lang="en-US" sz="355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488" y="2297169"/>
            <a:ext cx="3307732" cy="4037576"/>
          </a:xfrm>
          <a:prstGeom prst="rect">
            <a:avLst/>
          </a:prstGeom>
        </p:spPr>
      </p:pic>
      <p:pic>
        <p:nvPicPr>
          <p:cNvPr id="4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947459" y="2297151"/>
            <a:ext cx="3325584" cy="4037730"/>
          </a:xfrm>
          <a:prstGeom prst="rect">
            <a:avLst/>
          </a:prstGeom>
        </p:spPr>
      </p:pic>
      <p:pic>
        <p:nvPicPr>
          <p:cNvPr id="5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456019" y="2297169"/>
            <a:ext cx="3343300" cy="4037576"/>
          </a:xfrm>
          <a:prstGeom prst="rect">
            <a:avLst/>
          </a:prstGeom>
        </p:spPr>
      </p:pic>
      <p:pic>
        <p:nvPicPr>
          <p:cNvPr id="6" name="Image 3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971725" y="2297152"/>
            <a:ext cx="3346708" cy="40377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1330EF-A675-7A3C-B583-98C5BDAD8C35}"/>
              </a:ext>
            </a:extLst>
          </p:cNvPr>
          <p:cNvSpPr txBox="1"/>
          <p:nvPr/>
        </p:nvSpPr>
        <p:spPr>
          <a:xfrm>
            <a:off x="1455957" y="6422139"/>
            <a:ext cx="1187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2E782"/>
                </a:solidFill>
              </a:rPr>
              <a:t>Login Page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5E4E41-44CF-7BA9-DBC5-C04282C575F0}"/>
              </a:ext>
            </a:extLst>
          </p:cNvPr>
          <p:cNvSpPr txBox="1"/>
          <p:nvPr/>
        </p:nvSpPr>
        <p:spPr>
          <a:xfrm>
            <a:off x="4486406" y="6422139"/>
            <a:ext cx="2118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2E782"/>
                </a:solidFill>
              </a:rPr>
              <a:t>Create Account Page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9F4836-B873-6802-0FE4-F2C40D027117}"/>
              </a:ext>
            </a:extLst>
          </p:cNvPr>
          <p:cNvSpPr txBox="1"/>
          <p:nvPr/>
        </p:nvSpPr>
        <p:spPr>
          <a:xfrm>
            <a:off x="8003824" y="6422139"/>
            <a:ext cx="2188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2E782"/>
                </a:solidFill>
              </a:rPr>
              <a:t>User Dashboard Page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BF2860-1E9F-8D38-5436-51D785CA9088}"/>
              </a:ext>
            </a:extLst>
          </p:cNvPr>
          <p:cNvSpPr txBox="1"/>
          <p:nvPr/>
        </p:nvSpPr>
        <p:spPr>
          <a:xfrm>
            <a:off x="11486513" y="6422139"/>
            <a:ext cx="2556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2E782"/>
                </a:solidFill>
              </a:rPr>
              <a:t>User Transactions History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DAFA074-4563-167B-C0B1-093D8AFE82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82292" y="7705652"/>
            <a:ext cx="1848108" cy="52394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95F42DA-2C77-F289-D27F-1373DC3C2EDD}"/>
              </a:ext>
            </a:extLst>
          </p:cNvPr>
          <p:cNvSpPr txBox="1"/>
          <p:nvPr/>
        </p:nvSpPr>
        <p:spPr>
          <a:xfrm>
            <a:off x="5103360" y="7525837"/>
            <a:ext cx="3727302" cy="7001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5550"/>
              </a:lnSpc>
            </a:pPr>
            <a:r>
              <a:rPr lang="en-US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Mini Bank Management System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6C39C2-44AB-B7E6-F2AF-35229BF6EB9F}"/>
              </a:ext>
            </a:extLst>
          </p:cNvPr>
          <p:cNvSpPr txBox="1"/>
          <p:nvPr/>
        </p:nvSpPr>
        <p:spPr>
          <a:xfrm>
            <a:off x="13358915" y="7525837"/>
            <a:ext cx="1231427" cy="6848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5550"/>
              </a:lnSpc>
            </a:pPr>
            <a:r>
              <a:rPr lang="en-US" sz="1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Page No. 08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0" descr="preencoded.png">
            <a:extLst>
              <a:ext uri="{FF2B5EF4-FFF2-40B4-BE49-F238E27FC236}">
                <a16:creationId xmlns:a16="http://schemas.microsoft.com/office/drawing/2014/main" id="{A623B16E-6628-FC7B-75BE-3731C83AB67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391" y="4912119"/>
            <a:ext cx="2742843" cy="626745"/>
          </a:xfrm>
          <a:prstGeom prst="rect">
            <a:avLst/>
          </a:prstGeom>
        </p:spPr>
      </p:pic>
      <p:pic>
        <p:nvPicPr>
          <p:cNvPr id="31" name="Image 0" descr="preencoded.png">
            <a:extLst>
              <a:ext uri="{FF2B5EF4-FFF2-40B4-BE49-F238E27FC236}">
                <a16:creationId xmlns:a16="http://schemas.microsoft.com/office/drawing/2014/main" id="{B80E5B85-A080-237F-F600-51ED70FB8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758" y="4912119"/>
            <a:ext cx="2742843" cy="626745"/>
          </a:xfrm>
          <a:prstGeom prst="rect">
            <a:avLst/>
          </a:prstGeom>
        </p:spPr>
      </p:pic>
      <p:pic>
        <p:nvPicPr>
          <p:cNvPr id="29" name="Image 0" descr="preencoded.png">
            <a:extLst>
              <a:ext uri="{FF2B5EF4-FFF2-40B4-BE49-F238E27FC236}">
                <a16:creationId xmlns:a16="http://schemas.microsoft.com/office/drawing/2014/main" id="{34FECAA6-7088-6613-88C2-0DC05F3D2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9253" y="1827753"/>
            <a:ext cx="2742843" cy="62674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758" y="680680"/>
            <a:ext cx="4394359" cy="522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Future Improvements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731758" y="2388869"/>
            <a:ext cx="3067764" cy="2198727"/>
          </a:xfrm>
          <a:prstGeom prst="roundRect">
            <a:avLst>
              <a:gd name="adj" fmla="val 4279"/>
            </a:avLst>
          </a:prstGeom>
          <a:solidFill>
            <a:srgbClr val="1B1C1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726" y="1813917"/>
            <a:ext cx="2742843" cy="62674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2030" y="1709380"/>
            <a:ext cx="627221" cy="62722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140148" y="1866186"/>
            <a:ext cx="250865" cy="313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963692" y="2545675"/>
            <a:ext cx="2603897" cy="653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Database Integration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963692" y="3391614"/>
            <a:ext cx="2603897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Migrate file-based storage to MySQL/PostgreSQL for reliability and concurrency.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992285" y="2440661"/>
            <a:ext cx="3067883" cy="2146935"/>
          </a:xfrm>
          <a:prstGeom prst="roundRect">
            <a:avLst>
              <a:gd name="adj" fmla="val 4279"/>
            </a:avLst>
          </a:prstGeom>
          <a:solidFill>
            <a:srgbClr val="1B1C1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556" y="1709380"/>
            <a:ext cx="627221" cy="62722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00675" y="1866186"/>
            <a:ext cx="250865" cy="313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1950" dirty="0"/>
          </a:p>
        </p:txBody>
      </p:sp>
      <p:sp>
        <p:nvSpPr>
          <p:cNvPr id="13" name="Text 7"/>
          <p:cNvSpPr/>
          <p:nvPr/>
        </p:nvSpPr>
        <p:spPr>
          <a:xfrm>
            <a:off x="4224218" y="2545675"/>
            <a:ext cx="2604016" cy="653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ATM &amp; Card Support</a:t>
            </a:r>
            <a:endParaRPr lang="en-US" sz="2050" dirty="0"/>
          </a:p>
        </p:txBody>
      </p:sp>
      <p:sp>
        <p:nvSpPr>
          <p:cNvPr id="14" name="Text 8"/>
          <p:cNvSpPr/>
          <p:nvPr/>
        </p:nvSpPr>
        <p:spPr>
          <a:xfrm>
            <a:off x="4224218" y="3391614"/>
            <a:ext cx="2604016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Add card management, PIN validation, and offline transaction queuing.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731758" y="5407580"/>
            <a:ext cx="3067764" cy="1924408"/>
          </a:xfrm>
          <a:prstGeom prst="roundRect">
            <a:avLst>
              <a:gd name="adj" fmla="val 4903"/>
            </a:avLst>
          </a:prstGeom>
          <a:solidFill>
            <a:srgbClr val="1B1C1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2030" y="4780359"/>
            <a:ext cx="627221" cy="62722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2140148" y="4937165"/>
            <a:ext cx="250865" cy="313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1950" dirty="0"/>
          </a:p>
        </p:txBody>
      </p:sp>
      <p:sp>
        <p:nvSpPr>
          <p:cNvPr id="19" name="Text 11"/>
          <p:cNvSpPr/>
          <p:nvPr/>
        </p:nvSpPr>
        <p:spPr>
          <a:xfrm>
            <a:off x="963692" y="5616654"/>
            <a:ext cx="2603897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Mobile App</a:t>
            </a:r>
            <a:endParaRPr lang="en-US" sz="2050" dirty="0"/>
          </a:p>
        </p:txBody>
      </p:sp>
      <p:sp>
        <p:nvSpPr>
          <p:cNvPr id="20" name="Text 12"/>
          <p:cNvSpPr/>
          <p:nvPr/>
        </p:nvSpPr>
        <p:spPr>
          <a:xfrm>
            <a:off x="963692" y="6136005"/>
            <a:ext cx="2603897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Provide Android/iOS front-end with REST API backend.</a:t>
            </a:r>
            <a:endParaRPr lang="en-US" sz="1600" dirty="0"/>
          </a:p>
        </p:txBody>
      </p:sp>
      <p:sp>
        <p:nvSpPr>
          <p:cNvPr id="21" name="Shape 13"/>
          <p:cNvSpPr/>
          <p:nvPr/>
        </p:nvSpPr>
        <p:spPr>
          <a:xfrm>
            <a:off x="3992285" y="5538864"/>
            <a:ext cx="3067883" cy="1793124"/>
          </a:xfrm>
          <a:prstGeom prst="roundRect">
            <a:avLst>
              <a:gd name="adj" fmla="val 4903"/>
            </a:avLst>
          </a:prstGeom>
          <a:solidFill>
            <a:srgbClr val="1B1C1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556" y="4780359"/>
            <a:ext cx="627221" cy="627221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400675" y="4937165"/>
            <a:ext cx="250865" cy="313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4</a:t>
            </a:r>
            <a:endParaRPr lang="en-US" sz="1950" dirty="0"/>
          </a:p>
        </p:txBody>
      </p:sp>
      <p:sp>
        <p:nvSpPr>
          <p:cNvPr id="25" name="Text 15"/>
          <p:cNvSpPr/>
          <p:nvPr/>
        </p:nvSpPr>
        <p:spPr>
          <a:xfrm>
            <a:off x="4224218" y="5616654"/>
            <a:ext cx="2604016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Enhanced Security</a:t>
            </a:r>
            <a:endParaRPr lang="en-US" sz="2050" dirty="0"/>
          </a:p>
        </p:txBody>
      </p:sp>
      <p:sp>
        <p:nvSpPr>
          <p:cNvPr id="26" name="Text 16"/>
          <p:cNvSpPr/>
          <p:nvPr/>
        </p:nvSpPr>
        <p:spPr>
          <a:xfrm>
            <a:off x="4224218" y="6136005"/>
            <a:ext cx="2604016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OTP, password hashing, role-based access, and audit trails.</a:t>
            </a:r>
            <a:endParaRPr lang="en-US" sz="16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7852" y="2319576"/>
            <a:ext cx="6328410" cy="3586043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7577852" y="6122432"/>
            <a:ext cx="6328410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Planned improvements scale the prototype into a production-ready system suitable for campus or small-branch use.</a:t>
            </a:r>
            <a:endParaRPr lang="en-US" sz="16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9BF863A-21C8-5F3A-A8F0-3101DE60A2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82292" y="7705652"/>
            <a:ext cx="1848108" cy="52394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491417F-B003-BFA4-239E-A9DDA48811E2}"/>
              </a:ext>
            </a:extLst>
          </p:cNvPr>
          <p:cNvSpPr txBox="1"/>
          <p:nvPr/>
        </p:nvSpPr>
        <p:spPr>
          <a:xfrm>
            <a:off x="5103360" y="7525837"/>
            <a:ext cx="3727302" cy="7001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5550"/>
              </a:lnSpc>
            </a:pPr>
            <a:r>
              <a:rPr lang="en-US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Mini Bank Management System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63C08F-092A-5CE3-D720-25129543707E}"/>
              </a:ext>
            </a:extLst>
          </p:cNvPr>
          <p:cNvSpPr txBox="1"/>
          <p:nvPr/>
        </p:nvSpPr>
        <p:spPr>
          <a:xfrm>
            <a:off x="13358915" y="7525837"/>
            <a:ext cx="1231427" cy="6848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5550"/>
              </a:lnSpc>
            </a:pPr>
            <a:r>
              <a:rPr lang="en-US" sz="1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Page No. 09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489F10B-1BFA-6231-B5FC-ADD2ACFEF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2292" y="7705652"/>
            <a:ext cx="1848108" cy="5239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273D38-602C-F5DB-481A-45B3AEF3939B}"/>
              </a:ext>
            </a:extLst>
          </p:cNvPr>
          <p:cNvSpPr txBox="1"/>
          <p:nvPr/>
        </p:nvSpPr>
        <p:spPr>
          <a:xfrm>
            <a:off x="5103360" y="7525837"/>
            <a:ext cx="3727302" cy="7001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5550"/>
              </a:lnSpc>
            </a:pPr>
            <a:r>
              <a:rPr lang="en-US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Mini Bank Management System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D7EE96-F54B-2115-30A6-BCC6E5DB2610}"/>
              </a:ext>
            </a:extLst>
          </p:cNvPr>
          <p:cNvSpPr txBox="1"/>
          <p:nvPr/>
        </p:nvSpPr>
        <p:spPr>
          <a:xfrm>
            <a:off x="13358915" y="7525837"/>
            <a:ext cx="1176925" cy="6848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5550"/>
              </a:lnSpc>
            </a:pPr>
            <a:r>
              <a:rPr lang="en-US" sz="1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Page No. 10</a:t>
            </a:r>
            <a:endParaRPr lang="en-US" sz="14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E182C9B5-DC3A-ECBA-7B6F-E0CB8D57D28D}"/>
              </a:ext>
            </a:extLst>
          </p:cNvPr>
          <p:cNvSpPr/>
          <p:nvPr/>
        </p:nvSpPr>
        <p:spPr>
          <a:xfrm>
            <a:off x="731758" y="680680"/>
            <a:ext cx="4394359" cy="522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Conclusion</a:t>
            </a:r>
            <a:endParaRPr lang="en-US" sz="32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73D52B-1D80-238E-94AE-6A7EF6F0F75B}"/>
              </a:ext>
            </a:extLst>
          </p:cNvPr>
          <p:cNvSpPr txBox="1"/>
          <p:nvPr/>
        </p:nvSpPr>
        <p:spPr>
          <a:xfrm>
            <a:off x="731759" y="1587605"/>
            <a:ext cx="976770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solidFill>
                  <a:srgbClr val="CFCBBF"/>
                </a:solidFill>
                <a:latin typeface="Raleway" pitchFamily="2" charset="0"/>
              </a:rPr>
              <a:t>The Mini Bank Management System is a useful Java-based project that demonstrates practical use of Object-Oriented Programming concepts. It helps automate banking activities, improves efficiency, reduces manual errors, and provides a secure environment for account management. This project also builds strong programming knowledge and real-world software development experience.</a:t>
            </a:r>
          </a:p>
          <a:p>
            <a:pPr algn="just"/>
            <a:endParaRPr lang="en-US" sz="2000" dirty="0">
              <a:solidFill>
                <a:srgbClr val="CFCBBF"/>
              </a:solidFill>
              <a:latin typeface="Ralew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4221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7B16CD-1A69-33B5-B55E-B5004040B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2292" y="7705652"/>
            <a:ext cx="1848108" cy="523948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5074E5A9-2F9D-B3D4-6EEF-5D795FDA1B33}"/>
              </a:ext>
            </a:extLst>
          </p:cNvPr>
          <p:cNvSpPr/>
          <p:nvPr/>
        </p:nvSpPr>
        <p:spPr>
          <a:xfrm>
            <a:off x="3711626" y="3744348"/>
            <a:ext cx="8078755" cy="740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60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Thank You Everyone! 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41400657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0214BB958C9D498556C9D343AC30F3" ma:contentTypeVersion="12" ma:contentTypeDescription="Create a new document." ma:contentTypeScope="" ma:versionID="54fed3d5bb293b2e2a584ff25927c4cd">
  <xsd:schema xmlns:xsd="http://www.w3.org/2001/XMLSchema" xmlns:xs="http://www.w3.org/2001/XMLSchema" xmlns:p="http://schemas.microsoft.com/office/2006/metadata/properties" xmlns:ns2="971efb0b-bc75-480d-a889-77f5f232db0d" xmlns:ns3="677109a1-2f0a-44eb-b73d-463197f3be52" targetNamespace="http://schemas.microsoft.com/office/2006/metadata/properties" ma:root="true" ma:fieldsID="1667aecb444c09f2a8f416dba7d79498" ns2:_="" ns3:_="">
    <xsd:import namespace="971efb0b-bc75-480d-a889-77f5f232db0d"/>
    <xsd:import namespace="677109a1-2f0a-44eb-b73d-463197f3be52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1efb0b-bc75-480d-a889-77f5f232db0d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767e7ced-61ee-46db-9006-17444c58eb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7109a1-2f0a-44eb-b73d-463197f3be52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8574ecd7-886d-4218-af26-edbe6dba4d47}" ma:internalName="TaxCatchAll" ma:showField="CatchAllData" ma:web="677109a1-2f0a-44eb-b73d-463197f3be5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71efb0b-bc75-480d-a889-77f5f232db0d">
      <Terms xmlns="http://schemas.microsoft.com/office/infopath/2007/PartnerControls"/>
    </lcf76f155ced4ddcb4097134ff3c332f>
    <ReferenceId xmlns="971efb0b-bc75-480d-a889-77f5f232db0d" xsi:nil="true"/>
    <TaxCatchAll xmlns="677109a1-2f0a-44eb-b73d-463197f3be52" xsi:nil="true"/>
  </documentManagement>
</p:properties>
</file>

<file path=customXml/itemProps1.xml><?xml version="1.0" encoding="utf-8"?>
<ds:datastoreItem xmlns:ds="http://schemas.openxmlformats.org/officeDocument/2006/customXml" ds:itemID="{1F6A1B3F-B2B4-410A-B2EC-E0F4CEBF4583}"/>
</file>

<file path=customXml/itemProps2.xml><?xml version="1.0" encoding="utf-8"?>
<ds:datastoreItem xmlns:ds="http://schemas.openxmlformats.org/officeDocument/2006/customXml" ds:itemID="{A7EF54E6-DB78-4451-BFCE-2E68272D6C2C}"/>
</file>

<file path=customXml/itemProps3.xml><?xml version="1.0" encoding="utf-8"?>
<ds:datastoreItem xmlns:ds="http://schemas.openxmlformats.org/officeDocument/2006/customXml" ds:itemID="{7FF5DED0-B114-4692-8959-B03EAC9C9699}"/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704</Words>
  <Application>Microsoft Office PowerPoint</Application>
  <PresentationFormat>Custom</PresentationFormat>
  <Paragraphs>129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Raleway</vt:lpstr>
      <vt:lpstr>Prata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JONAYET BOGDADY</dc:creator>
  <cp:lastModifiedBy>JONAYET BOGDADY</cp:lastModifiedBy>
  <cp:revision>11</cp:revision>
  <dcterms:created xsi:type="dcterms:W3CDTF">2026-04-25T13:34:58Z</dcterms:created>
  <dcterms:modified xsi:type="dcterms:W3CDTF">2026-04-25T15:13:47Z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0x010100A90214BB958C9D498556C9D343AC30F3</vt:lpwstr>
  </property>
</Properties>
</file>